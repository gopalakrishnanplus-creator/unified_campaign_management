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069080" cy="685800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840480" y="548640"/>
            <a:ext cx="201168" cy="566928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2834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Aptos"/>
              </a:rPr>
              <a:t>SELF-SERVICE SUPPORT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298448"/>
            <a:ext cx="2880360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500" b="1">
                <a:solidFill>
                  <a:srgbClr val="FFFFFF"/>
                </a:solidFill>
                <a:latin typeface="Aptos Display"/>
              </a:rPr>
              <a:t>Patient Self-Service Support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743200"/>
            <a:ext cx="292608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Aptos"/>
              </a:rPr>
              <a:t>Document how patients reach patient-facing support pages and widgets for Patient Education and Red Flag Alert issues.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4617720"/>
            <a:ext cx="132588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13232" y="4764024"/>
            <a:ext cx="105156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0F766E"/>
                </a:solidFill>
                <a:latin typeface="Aptos"/>
              </a:rPr>
              <a:t>PRIMARY USER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3232" y="5056632"/>
            <a:ext cx="1051560" cy="4480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0F172A"/>
                </a:solidFill>
                <a:latin typeface="Aptos"/>
              </a:rPr>
              <a:t>Patient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965960" y="4617720"/>
            <a:ext cx="141732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130552" y="4764024"/>
            <a:ext cx="114300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0F766E"/>
                </a:solidFill>
                <a:latin typeface="Aptos"/>
              </a:rPr>
              <a:t>ENTRY POINT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130552" y="5056632"/>
            <a:ext cx="1143000" cy="4480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0F172A"/>
                </a:solidFill>
                <a:latin typeface="Aptos"/>
              </a:rPr>
              <a:t>/support/patient/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26280" y="640080"/>
            <a:ext cx="6995160" cy="5120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01-patient-land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26280" y="910317"/>
            <a:ext cx="6995160" cy="4580164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4572000" y="5989320"/>
            <a:ext cx="68580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64748B"/>
                </a:solidFill>
                <a:latin typeface="Aptos"/>
              </a:rPr>
              <a:t>Verified against the live application on 2026-04-11.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475488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02920" y="713232"/>
            <a:ext cx="1920240" cy="3474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768096"/>
            <a:ext cx="16459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0F766E"/>
                </a:solidFill>
                <a:latin typeface="Aptos"/>
              </a:rPr>
              <a:t>WORKFLOW OVERVIEW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1170432"/>
            <a:ext cx="813816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0F172A"/>
                </a:solidFill>
                <a:latin typeface="Aptos Display"/>
              </a:rPr>
              <a:t>Patient Self-Service Support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0352" y="1755648"/>
            <a:ext cx="7955279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475569"/>
                </a:solidFill>
                <a:latin typeface="Aptos"/>
              </a:rPr>
              <a:t>A training-ready summary of the workflow entry point, ownership, and outcomes.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6446520"/>
            <a:ext cx="11155680" cy="5486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966960" y="713232"/>
            <a:ext cx="17373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64748B"/>
                </a:solidFill>
                <a:latin typeface="Aptos"/>
              </a:rPr>
              <a:t>Verified 2026-04-11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30352" y="2377440"/>
            <a:ext cx="246888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94944" y="2523744"/>
            <a:ext cx="219456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0F766E"/>
                </a:solidFill>
                <a:latin typeface="Aptos"/>
              </a:rPr>
              <a:t>PRIMARY USER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94944" y="2816352"/>
            <a:ext cx="2194560" cy="4480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0F172A"/>
                </a:solidFill>
                <a:latin typeface="Aptos"/>
              </a:rPr>
              <a:t>Patient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172968" y="2377440"/>
            <a:ext cx="265176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337560" y="2523744"/>
            <a:ext cx="237744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0F766E"/>
                </a:solidFill>
                <a:latin typeface="Aptos"/>
              </a:rPr>
              <a:t>ENTRY POINT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337560" y="2816352"/>
            <a:ext cx="2377440" cy="4480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0F172A"/>
                </a:solidFill>
                <a:latin typeface="Aptos"/>
              </a:rPr>
              <a:t>/support/patient/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998464" y="2377440"/>
            <a:ext cx="246888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163056" y="2523744"/>
            <a:ext cx="219456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0F766E"/>
                </a:solidFill>
                <a:latin typeface="Aptos"/>
              </a:rPr>
              <a:t>VERIFIED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63056" y="2816352"/>
            <a:ext cx="2194560" cy="4480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0F172A"/>
                </a:solidFill>
                <a:latin typeface="Aptos"/>
              </a:rPr>
              <a:t>2026-04-11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641080" y="2377440"/>
            <a:ext cx="265176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805672" y="2523744"/>
            <a:ext cx="237744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0F766E"/>
                </a:solidFill>
                <a:latin typeface="Aptos"/>
              </a:rPr>
              <a:t>STEPS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805672" y="2816352"/>
            <a:ext cx="2377440" cy="4480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0F172A"/>
                </a:solidFill>
                <a:latin typeface="Aptos"/>
              </a:rPr>
              <a:t>4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30352" y="3611880"/>
            <a:ext cx="5669280" cy="21762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94944" y="3749040"/>
            <a:ext cx="5340096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0F766E"/>
                </a:solidFill>
                <a:latin typeface="Aptos"/>
              </a:rPr>
              <a:t>Workflow summary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4944" y="4023360"/>
            <a:ext cx="5340096" cy="1673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200" b="0">
                <a:solidFill>
                  <a:srgbClr val="0F172A"/>
                </a:solidFill>
                <a:latin typeface="Aptos"/>
              </a:rPr>
              <a:t>Patients use a dedicated support center with Patient Education and Red Flag Alert content.</a:t>
            </a:r>
          </a:p>
          <a:p>
            <a:pPr/>
            <a:r>
              <a:rPr sz="1200" b="0">
                <a:solidFill>
                  <a:srgbClr val="0F172A"/>
                </a:solidFill>
                <a:latin typeface="Aptos"/>
              </a:rPr>
              <a:t>The support pages cover page-specific FAQs, while widgets provide a compact support-bot experience.</a:t>
            </a:r>
          </a:p>
          <a:p>
            <a:pPr/>
            <a:r>
              <a:rPr sz="1200" b="0">
                <a:solidFill>
                  <a:srgbClr val="0F172A"/>
                </a:solidFill>
                <a:latin typeface="Aptos"/>
              </a:rPr>
              <a:t>Patients can escalate unresolved issues through the landing-page form or widget-driven support path.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355080" y="3611880"/>
            <a:ext cx="4937760" cy="21762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519672" y="3749040"/>
            <a:ext cx="4608576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1D4ED8"/>
                </a:solidFill>
                <a:latin typeface="Aptos"/>
              </a:rPr>
              <a:t>Success criteria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19672" y="4023360"/>
            <a:ext cx="4608576" cy="1673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200" b="0">
                <a:solidFill>
                  <a:srgbClr val="0F172A"/>
                </a:solidFill>
                <a:latin typeface="Aptos"/>
              </a:rPr>
              <a:t>Patients can navigate the role page, page-wise FAQs, and widgets without help.</a:t>
            </a:r>
          </a:p>
          <a:p>
            <a:pPr/>
            <a:r>
              <a:rPr sz="1200" b="0">
                <a:solidFill>
                  <a:srgbClr val="0F172A"/>
                </a:solidFill>
                <a:latin typeface="Aptos"/>
              </a:rPr>
              <a:t>Patients know there is still an escalation path if the FAQ does not resolve the issue.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475488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02920" y="713232"/>
            <a:ext cx="1920240" cy="3474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768096"/>
            <a:ext cx="16459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0F766E"/>
                </a:solidFill>
                <a:latin typeface="Aptos"/>
              </a:rPr>
              <a:t>PATIENT SELF-SERVICE SUPPORT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1170432"/>
            <a:ext cx="813816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0F172A"/>
                </a:solidFill>
                <a:latin typeface="Aptos Display"/>
              </a:rPr>
              <a:t>Decision Guide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0352" y="1755648"/>
            <a:ext cx="7955279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475569"/>
                </a:solidFill>
                <a:latin typeface="Aptos"/>
              </a:rPr>
              <a:t>Use this slide to explain how the workflow branches from entry to completion.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6446520"/>
            <a:ext cx="11155680" cy="5486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966960" y="713232"/>
            <a:ext cx="17373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64748B"/>
                </a:solidFill>
                <a:latin typeface="Aptos"/>
              </a:rPr>
              <a:t>Verified 2026-04-11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2103120"/>
            <a:ext cx="3017520" cy="2971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914400" y="2304288"/>
            <a:ext cx="1170432" cy="310896"/>
          </a:xfrm>
          <a:prstGeom prst="roundRect">
            <a:avLst/>
          </a:prstGeom>
          <a:solidFill>
            <a:srgbClr val="0F766E"/>
          </a:solidFill>
          <a:ln w="12700"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24128" y="2359152"/>
            <a:ext cx="9144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  <a:latin typeface="Aptos"/>
              </a:rPr>
              <a:t>START HERE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32688" y="2743200"/>
            <a:ext cx="25603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0F172A"/>
                </a:solidFill>
                <a:latin typeface="Aptos Display"/>
              </a:rPr>
              <a:t>Open the Patient support center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32688" y="3456432"/>
            <a:ext cx="2615184" cy="1234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475569"/>
                </a:solidFill>
                <a:latin typeface="Aptos"/>
              </a:rPr>
              <a:t>This is the starting point for patient self-service in the live app.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160520" y="2103120"/>
            <a:ext cx="3017520" cy="2971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4343400" y="2304288"/>
            <a:ext cx="1170432" cy="310896"/>
          </a:xfrm>
          <a:prstGeom prst="roundRect">
            <a:avLst/>
          </a:prstGeom>
          <a:solidFill>
            <a:srgbClr val="1D4ED8"/>
          </a:solidFill>
          <a:ln w="12700">
            <a:solidFill>
              <a:srgbClr val="1D4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453128" y="2359152"/>
            <a:ext cx="9144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  <a:latin typeface="Aptos"/>
              </a:rPr>
              <a:t>CONTINUE WHEN RESOLVED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61688" y="2743200"/>
            <a:ext cx="25603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0F172A"/>
                </a:solidFill>
                <a:latin typeface="Aptos Display"/>
              </a:rPr>
              <a:t>Open a patient-facing FAQ page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61688" y="3456432"/>
            <a:ext cx="2615184" cy="1234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475569"/>
                </a:solidFill>
                <a:latin typeface="Aptos"/>
              </a:rPr>
              <a:t>Patients can navigate the role page, page-wise FAQs, and widgets without help.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589520" y="2103120"/>
            <a:ext cx="3017520" cy="2971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7772400" y="2304288"/>
            <a:ext cx="1170432" cy="310896"/>
          </a:xfrm>
          <a:prstGeom prst="roundRect">
            <a:avLst/>
          </a:prstGeom>
          <a:solidFill>
            <a:srgbClr val="F59E0B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882128" y="2359152"/>
            <a:ext cx="9144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  <a:latin typeface="Aptos"/>
              </a:rPr>
              <a:t>ESCALATE OR HAND OFF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90688" y="2743200"/>
            <a:ext cx="25603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0F172A"/>
                </a:solidFill>
                <a:latin typeface="Aptos Display"/>
              </a:rPr>
              <a:t>Escalate when self-service does not resolve the issue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90688" y="3456432"/>
            <a:ext cx="2615184" cy="1234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475569"/>
                </a:solidFill>
                <a:latin typeface="Aptos"/>
              </a:rPr>
              <a:t>Patients know there is still an escalation path if the FAQ does not resolve the issue.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475488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02920" y="713232"/>
            <a:ext cx="1920240" cy="3474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768096"/>
            <a:ext cx="16459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0F766E"/>
                </a:solidFill>
                <a:latin typeface="Aptos"/>
              </a:rPr>
              <a:t>PATIENT SELF-SERVICE SUPPORT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1170432"/>
            <a:ext cx="813816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0F172A"/>
                </a:solidFill>
                <a:latin typeface="Aptos Display"/>
              </a:rPr>
              <a:t>Step 1. Open the Patient support center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0352" y="1755648"/>
            <a:ext cx="7955279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475569"/>
                </a:solidFill>
                <a:latin typeface="Aptos"/>
              </a:rPr>
              <a:t>Patient support landing page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6446520"/>
            <a:ext cx="11155680" cy="5486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966960" y="713232"/>
            <a:ext cx="17373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64748B"/>
                </a:solidFill>
                <a:latin typeface="Aptos"/>
              </a:rPr>
              <a:t>Verified 2026-04-11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30352" y="2103120"/>
            <a:ext cx="470916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94944" y="2240280"/>
            <a:ext cx="4379976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0F766E"/>
                </a:solidFill>
                <a:latin typeface="Aptos"/>
              </a:rPr>
              <a:t>What the user does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94944" y="2514600"/>
            <a:ext cx="4379976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200" b="0">
                <a:solidFill>
                  <a:srgbClr val="0F172A"/>
                </a:solidFill>
                <a:latin typeface="Aptos"/>
              </a:rPr>
              <a:t>Navigate to `/support/patient/`.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30352" y="3310128"/>
            <a:ext cx="470916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94944" y="3447288"/>
            <a:ext cx="4379976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1D4ED8"/>
                </a:solidFill>
                <a:latin typeface="Aptos"/>
              </a:rPr>
              <a:t>What the user sees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4944" y="3721608"/>
            <a:ext cx="4379976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200" b="0">
                <a:solidFill>
                  <a:srgbClr val="0F172A"/>
                </a:solidFill>
                <a:latin typeface="Aptos"/>
              </a:rPr>
              <a:t>A patient-facing support landing page with page-wise cards for patient content and Red Flag Alert flows.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30352" y="4517136"/>
            <a:ext cx="4709160" cy="11155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94944" y="4654296"/>
            <a:ext cx="4379976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F59E0B"/>
                </a:solidFill>
                <a:latin typeface="Aptos"/>
              </a:rPr>
              <a:t>Why it matters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94944" y="4928616"/>
            <a:ext cx="4379976" cy="6126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200" b="0">
                <a:solidFill>
                  <a:srgbClr val="0F172A"/>
                </a:solidFill>
                <a:latin typeface="Aptos"/>
              </a:rPr>
              <a:t>This is the starting point for patient self-service in the live app.</a:t>
            </a:r>
          </a:p>
          <a:p>
            <a:pPr/>
            <a:r>
              <a:rPr sz="1200" b="0">
                <a:solidFill>
                  <a:srgbClr val="0F172A"/>
                </a:solidFill>
                <a:latin typeface="Aptos"/>
              </a:rPr>
              <a:t>The patient can identify the relevant page or journey without internal help.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68112" y="2103120"/>
            <a:ext cx="6199632" cy="3794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01-patient-land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0111" y="2103120"/>
            <a:ext cx="5795633" cy="3794760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5468112" y="6016752"/>
            <a:ext cx="61722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/>
            <a:r>
              <a:rPr sz="1100" b="0">
                <a:solidFill>
                  <a:srgbClr val="475569"/>
                </a:solidFill>
                <a:latin typeface="Aptos"/>
              </a:rPr>
              <a:t>Trainer note: The patient role page is intentionally simpler than the doctor and field-rep catalogs.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475488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02920" y="713232"/>
            <a:ext cx="1920240" cy="3474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768096"/>
            <a:ext cx="16459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0F766E"/>
                </a:solidFill>
                <a:latin typeface="Aptos"/>
              </a:rPr>
              <a:t>PATIENT SELF-SERVICE SUPPORT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1170432"/>
            <a:ext cx="813816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0F172A"/>
                </a:solidFill>
                <a:latin typeface="Aptos Display"/>
              </a:rPr>
              <a:t>Step 2. Open a patient-facing FAQ page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0352" y="1755648"/>
            <a:ext cx="7955279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475569"/>
                </a:solidFill>
                <a:latin typeface="Aptos"/>
              </a:rPr>
              <a:t>Patient FAQ page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6446520"/>
            <a:ext cx="11155680" cy="5486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966960" y="713232"/>
            <a:ext cx="17373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64748B"/>
                </a:solidFill>
                <a:latin typeface="Aptos"/>
              </a:rPr>
              <a:t>Verified 2026-04-11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30352" y="2103120"/>
            <a:ext cx="470916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94944" y="2240280"/>
            <a:ext cx="4379976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0F766E"/>
                </a:solidFill>
                <a:latin typeface="Aptos"/>
              </a:rPr>
              <a:t>What the user does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94944" y="2514600"/>
            <a:ext cx="4379976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200" b="0">
                <a:solidFill>
                  <a:srgbClr val="0F172A"/>
                </a:solidFill>
                <a:latin typeface="Aptos"/>
              </a:rPr>
              <a:t>Choose a page such as the patient page or Red Flag Alert result screen page.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30352" y="3310128"/>
            <a:ext cx="470916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94944" y="3447288"/>
            <a:ext cx="4379976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1D4ED8"/>
                </a:solidFill>
                <a:latin typeface="Aptos"/>
              </a:rPr>
              <a:t>What the user sees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4944" y="3721608"/>
            <a:ext cx="4379976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200" b="0">
                <a:solidFill>
                  <a:srgbClr val="0F172A"/>
                </a:solidFill>
                <a:latin typeface="Aptos"/>
              </a:rPr>
              <a:t>A page-wise FAQ experience tailored to patient issues.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30352" y="4517136"/>
            <a:ext cx="4709160" cy="11155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94944" y="4654296"/>
            <a:ext cx="4379976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F59E0B"/>
                </a:solidFill>
                <a:latin typeface="Aptos"/>
              </a:rPr>
              <a:t>Why it matters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94944" y="4928616"/>
            <a:ext cx="4379976" cy="6126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200" b="0">
                <a:solidFill>
                  <a:srgbClr val="0F172A"/>
                </a:solidFill>
                <a:latin typeface="Aptos"/>
              </a:rPr>
              <a:t>This is the main content view for patient self-service.</a:t>
            </a:r>
          </a:p>
          <a:p>
            <a:pPr/>
            <a:r>
              <a:rPr sz="1200" b="0">
                <a:solidFill>
                  <a:srgbClr val="0F172A"/>
                </a:solidFill>
                <a:latin typeface="Aptos"/>
              </a:rPr>
              <a:t>The patient can review the available guidance before escalating.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68112" y="2103120"/>
            <a:ext cx="6199632" cy="3794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02-patient-faq-p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0111" y="2103120"/>
            <a:ext cx="5795633" cy="3794760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5468112" y="6016752"/>
            <a:ext cx="61722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/>
            <a:r>
              <a:rPr sz="1100" b="0">
                <a:solidFill>
                  <a:srgbClr val="475569"/>
                </a:solidFill>
                <a:latin typeface="Aptos"/>
              </a:rPr>
              <a:t>Trainer note: Choose a page with recognizably patient-friendly wording when presenting to client teams.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475488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02920" y="713232"/>
            <a:ext cx="1920240" cy="3474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768096"/>
            <a:ext cx="16459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0F766E"/>
                </a:solidFill>
                <a:latin typeface="Aptos"/>
              </a:rPr>
              <a:t>PATIENT SELF-SERVICE SUPPORT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1170432"/>
            <a:ext cx="813816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0F172A"/>
                </a:solidFill>
                <a:latin typeface="Aptos Display"/>
              </a:rPr>
              <a:t>Step 3. Use the widget for embedded support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0352" y="1755648"/>
            <a:ext cx="7955279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475569"/>
                </a:solidFill>
                <a:latin typeface="Aptos"/>
              </a:rPr>
              <a:t>Patient support widget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6446520"/>
            <a:ext cx="11155680" cy="5486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966960" y="713232"/>
            <a:ext cx="17373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64748B"/>
                </a:solidFill>
                <a:latin typeface="Aptos"/>
              </a:rPr>
              <a:t>Verified 2026-04-11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30352" y="2103120"/>
            <a:ext cx="470916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94944" y="2240280"/>
            <a:ext cx="4379976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0F766E"/>
                </a:solidFill>
                <a:latin typeface="Aptos"/>
              </a:rPr>
              <a:t>What the user does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94944" y="2514600"/>
            <a:ext cx="4379976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200" b="0">
                <a:solidFill>
                  <a:srgbClr val="0F172A"/>
                </a:solidFill>
                <a:latin typeface="Aptos"/>
              </a:rPr>
              <a:t>Open a standalone patient widget for one of the patient pages.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30352" y="3310128"/>
            <a:ext cx="470916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94944" y="3447288"/>
            <a:ext cx="4379976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1D4ED8"/>
                </a:solidFill>
                <a:latin typeface="Aptos"/>
              </a:rPr>
              <a:t>What the user sees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4944" y="3721608"/>
            <a:ext cx="4379976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200" b="0">
                <a:solidFill>
                  <a:srgbClr val="0F172A"/>
                </a:solidFill>
                <a:latin typeface="Aptos"/>
              </a:rPr>
              <a:t>A compact support bot that can guide the patient through the page’s FAQs.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30352" y="4517136"/>
            <a:ext cx="4709160" cy="11155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94944" y="4654296"/>
            <a:ext cx="4379976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F59E0B"/>
                </a:solidFill>
                <a:latin typeface="Aptos"/>
              </a:rPr>
              <a:t>Why it matters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94944" y="4928616"/>
            <a:ext cx="4379976" cy="6126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200" b="0">
                <a:solidFill>
                  <a:srgbClr val="0F172A"/>
                </a:solidFill>
                <a:latin typeface="Aptos"/>
              </a:rPr>
              <a:t>The widget is the most portable patient-facing support surface in the product.</a:t>
            </a:r>
          </a:p>
          <a:p>
            <a:pPr/>
            <a:r>
              <a:rPr sz="1200" b="0">
                <a:solidFill>
                  <a:srgbClr val="0F172A"/>
                </a:solidFill>
                <a:latin typeface="Aptos"/>
              </a:rPr>
              <a:t>The patient can access the same content in a smaller guided format.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68112" y="2103120"/>
            <a:ext cx="6199632" cy="3794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03-patient-widge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08361" y="2103120"/>
            <a:ext cx="4919133" cy="3794760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5468112" y="6016752"/>
            <a:ext cx="61722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/>
            <a:r>
              <a:rPr sz="1100" b="0">
                <a:solidFill>
                  <a:srgbClr val="475569"/>
                </a:solidFill>
                <a:latin typeface="Aptos"/>
              </a:rPr>
              <a:t>Trainer note: This is a useful example when explaining how support content can be embedded in other patient journeys.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475488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02920" y="713232"/>
            <a:ext cx="1920240" cy="3474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768096"/>
            <a:ext cx="16459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0F766E"/>
                </a:solidFill>
                <a:latin typeface="Aptos"/>
              </a:rPr>
              <a:t>PATIENT SELF-SERVICE SUPPORT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1170432"/>
            <a:ext cx="813816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0F172A"/>
                </a:solidFill>
                <a:latin typeface="Aptos Display"/>
              </a:rPr>
              <a:t>Step 4. Escalate when self-service does not resolve the issue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0352" y="1755648"/>
            <a:ext cx="7955279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475569"/>
                </a:solidFill>
                <a:latin typeface="Aptos"/>
              </a:rPr>
              <a:t>Patient support request form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6446520"/>
            <a:ext cx="11155680" cy="5486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966960" y="713232"/>
            <a:ext cx="17373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64748B"/>
                </a:solidFill>
                <a:latin typeface="Aptos"/>
              </a:rPr>
              <a:t>Verified 2026-04-11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30352" y="2103120"/>
            <a:ext cx="470916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94944" y="2240280"/>
            <a:ext cx="4379976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0F766E"/>
                </a:solidFill>
                <a:latin typeface="Aptos"/>
              </a:rPr>
              <a:t>What the user does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94944" y="2514600"/>
            <a:ext cx="4379976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200" b="0">
                <a:solidFill>
                  <a:srgbClr val="0F172A"/>
                </a:solidFill>
                <a:latin typeface="Aptos"/>
              </a:rPr>
              <a:t>Use the support form or unresolved-issue path if a patient answer is missing.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30352" y="3310128"/>
            <a:ext cx="470916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94944" y="3447288"/>
            <a:ext cx="4379976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1D4ED8"/>
                </a:solidFill>
                <a:latin typeface="Aptos"/>
              </a:rPr>
              <a:t>What the user sees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4944" y="3721608"/>
            <a:ext cx="4379976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200" b="0">
                <a:solidFill>
                  <a:srgbClr val="0F172A"/>
                </a:solidFill>
                <a:latin typeface="Aptos"/>
              </a:rPr>
              <a:t>A capture form that routes the issue into the internal support workflow.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30352" y="4517136"/>
            <a:ext cx="4709160" cy="11155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94944" y="4654296"/>
            <a:ext cx="4379976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F59E0B"/>
                </a:solidFill>
                <a:latin typeface="Aptos"/>
              </a:rPr>
              <a:t>Why it matters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94944" y="4928616"/>
            <a:ext cx="4379976" cy="6126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200" b="0">
                <a:solidFill>
                  <a:srgbClr val="0F172A"/>
                </a:solidFill>
                <a:latin typeface="Aptos"/>
              </a:rPr>
              <a:t>This prevents patient issues from stalling when FAQ coverage is incomplete.</a:t>
            </a:r>
          </a:p>
          <a:p>
            <a:pPr/>
            <a:r>
              <a:rPr sz="1200" b="0">
                <a:solidFill>
                  <a:srgbClr val="0F172A"/>
                </a:solidFill>
                <a:latin typeface="Aptos"/>
              </a:rPr>
              <a:t>The unresolved issue is recorded for internal review.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68112" y="2103120"/>
            <a:ext cx="6199632" cy="3794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01-patient-land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0111" y="2103120"/>
            <a:ext cx="5795633" cy="3794760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5468112" y="6016752"/>
            <a:ext cx="61722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/>
            <a:r>
              <a:rPr sz="1100" b="0">
                <a:solidFill>
                  <a:srgbClr val="475569"/>
                </a:solidFill>
                <a:latin typeface="Aptos"/>
              </a:rPr>
              <a:t>Trainer note: Keep the language client-friendly during training, since this role is often shown to external audiences.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475488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02920" y="713232"/>
            <a:ext cx="1920240" cy="3474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768096"/>
            <a:ext cx="16459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0F766E"/>
                </a:solidFill>
                <a:latin typeface="Aptos"/>
              </a:rPr>
              <a:t>PATIENT SELF-SERVICE SUPPORT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1170432"/>
            <a:ext cx="813816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0F172A"/>
                </a:solidFill>
                <a:latin typeface="Aptos Display"/>
              </a:rPr>
              <a:t>Trainer Tips and Common Issues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0352" y="1755648"/>
            <a:ext cx="7955279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475569"/>
                </a:solidFill>
                <a:latin typeface="Aptos"/>
              </a:rPr>
              <a:t>Use this slide to coach facilitators on pacing, known caveats, and product reality.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6446520"/>
            <a:ext cx="11155680" cy="5486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966960" y="713232"/>
            <a:ext cx="17373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64748B"/>
                </a:solidFill>
                <a:latin typeface="Aptos"/>
              </a:rPr>
              <a:t>Verified 2026-04-11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30352" y="2103120"/>
            <a:ext cx="5486400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94944" y="2240280"/>
            <a:ext cx="5157216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0F766E"/>
                </a:solidFill>
                <a:latin typeface="Aptos"/>
              </a:rPr>
              <a:t>Trainer tips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94944" y="2514600"/>
            <a:ext cx="5157216" cy="3063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200" b="0">
                <a:solidFill>
                  <a:srgbClr val="0F172A"/>
                </a:solidFill>
                <a:latin typeface="Aptos"/>
              </a:rPr>
              <a:t>Use the patient workflow when you need an example of the smallest, most client-shareable support surface.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99632" y="2103120"/>
            <a:ext cx="5440680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64224" y="2240280"/>
            <a:ext cx="5111496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1D4ED8"/>
                </a:solidFill>
                <a:latin typeface="Aptos"/>
              </a:rPr>
              <a:t>Status and caveats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64224" y="2514600"/>
            <a:ext cx="5111496" cy="3063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200" b="0">
                <a:solidFill>
                  <a:srgbClr val="0F172A"/>
                </a:solidFill>
                <a:latin typeface="Aptos"/>
              </a:rPr>
              <a:t>Live-verified against the patient support center, page view, and widget on 2026-04-11.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475488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02920" y="713232"/>
            <a:ext cx="1920240" cy="3474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768096"/>
            <a:ext cx="16459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0F766E"/>
                </a:solidFill>
                <a:latin typeface="Aptos"/>
              </a:rPr>
              <a:t>PATIENT SELF-SERVICE SUPPORT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1170432"/>
            <a:ext cx="813816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0F172A"/>
                </a:solidFill>
                <a:latin typeface="Aptos Display"/>
              </a:rPr>
              <a:t>Close-Out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0352" y="1755648"/>
            <a:ext cx="7955279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475569"/>
                </a:solidFill>
                <a:latin typeface="Aptos"/>
              </a:rPr>
              <a:t>End the walkthrough by confirming success and pointing learners to the next reference.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6446520"/>
            <a:ext cx="11155680" cy="5486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966960" y="713232"/>
            <a:ext cx="17373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64748B"/>
                </a:solidFill>
                <a:latin typeface="Aptos"/>
              </a:rPr>
              <a:t>Verified 2026-04-11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30352" y="2240280"/>
            <a:ext cx="5486400" cy="2514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94944" y="2377440"/>
            <a:ext cx="5157216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16A34A"/>
                </a:solidFill>
                <a:latin typeface="Aptos"/>
              </a:rPr>
              <a:t>Success criteria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94944" y="2651760"/>
            <a:ext cx="5157216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200" b="0">
                <a:solidFill>
                  <a:srgbClr val="0F172A"/>
                </a:solidFill>
                <a:latin typeface="Aptos"/>
              </a:rPr>
              <a:t>Patients can navigate the role page, page-wise FAQs, and widgets without help.</a:t>
            </a:r>
          </a:p>
          <a:p>
            <a:pPr/>
            <a:r>
              <a:rPr sz="1200" b="0">
                <a:solidFill>
                  <a:srgbClr val="0F172A"/>
                </a:solidFill>
                <a:latin typeface="Aptos"/>
              </a:rPr>
              <a:t>Patients know there is still an escalation path if the FAQ does not resolve the issue.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99632" y="2240280"/>
            <a:ext cx="5440680" cy="2514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64224" y="2377440"/>
            <a:ext cx="5111496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1D4ED8"/>
                </a:solidFill>
                <a:latin typeface="Aptos"/>
              </a:rPr>
              <a:t>Related documents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64224" y="2651760"/>
            <a:ext cx="5111496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200" b="0">
                <a:solidFill>
                  <a:srgbClr val="0F172A"/>
                </a:solidFill>
                <a:latin typeface="Aptos"/>
              </a:rPr>
              <a:t>README.md</a:t>
            </a:r>
          </a:p>
          <a:p>
            <a:pPr/>
            <a:r>
              <a:rPr sz="1200" b="0">
                <a:solidFill>
                  <a:srgbClr val="0F172A"/>
                </a:solidFill>
                <a:latin typeface="Aptos"/>
              </a:rPr>
              <a:t>docs/support-widget-integration.md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30352" y="5230368"/>
            <a:ext cx="10972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475569"/>
                </a:solidFill>
                <a:latin typeface="Aptos"/>
              </a:rPr>
              <a:t>Source of truth: live app, then code/templates, then project docs. Verified on 2026-04-11.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