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9080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40480" y="548640"/>
            <a:ext cx="201168" cy="56692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2834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PROJECT MANAGEMENT &amp; OPERATIONS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98448"/>
            <a:ext cx="2880360" cy="2148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 Display"/>
              </a:rPr>
              <a:t>Project Manager Review of “Other” Support Submissions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429000"/>
            <a:ext cx="29260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ptos"/>
              </a:rPr>
              <a:t>Document the end-to-end escalation path from an unresolved assistant/widget issue into a PM-reviewed ticket.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617720"/>
            <a:ext cx="13258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4764024"/>
            <a:ext cx="10515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F766E"/>
                </a:solidFill>
                <a:latin typeface="Aptos"/>
              </a:rPr>
              <a:t>PRIMARY USER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5056632"/>
            <a:ext cx="1051560" cy="448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Project Manager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65960" y="4617720"/>
            <a:ext cx="14173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30552" y="4764024"/>
            <a:ext cx="11430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F766E"/>
                </a:solidFill>
                <a:latin typeface="Aptos"/>
              </a:rPr>
              <a:t>ENTRY POINT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30552" y="5056632"/>
            <a:ext cx="1143000" cy="448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/support/doctor/assistant/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26280" y="640080"/>
            <a:ext cx="699516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01-doctor-assistant-other-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910317"/>
            <a:ext cx="6995160" cy="458016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572000" y="5989320"/>
            <a:ext cx="6858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ptos"/>
              </a:rPr>
              <a:t>Verified against the live application on 2026-04-11.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713232"/>
            <a:ext cx="19202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768096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Aptos"/>
              </a:rPr>
              <a:t>WORKFLOW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70432"/>
            <a:ext cx="8138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ptos Display"/>
              </a:rPr>
              <a:t>Project Manager Review of “Other” Support Submissions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755648"/>
            <a:ext cx="79552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A training-ready summary of the workflow entry point, ownership, and outcomes.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46520"/>
            <a:ext cx="11155680" cy="5486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0" y="713232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ptos"/>
              </a:rPr>
              <a:t>Verified 2026-04-11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2377440"/>
            <a:ext cx="24688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2523744"/>
            <a:ext cx="21945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F766E"/>
                </a:solidFill>
                <a:latin typeface="Aptos"/>
              </a:rPr>
              <a:t>PRIMARY USER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816352"/>
            <a:ext cx="2194560" cy="448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Project Manager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72968" y="2377440"/>
            <a:ext cx="26517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37560" y="2523744"/>
            <a:ext cx="23774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F766E"/>
                </a:solidFill>
                <a:latin typeface="Aptos"/>
              </a:rPr>
              <a:t>ENTRY POINT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2816352"/>
            <a:ext cx="2377440" cy="448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/support/doctor/assistant/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98464" y="2377440"/>
            <a:ext cx="24688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63056" y="2523744"/>
            <a:ext cx="21945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F766E"/>
                </a:solidFill>
                <a:latin typeface="Aptos"/>
              </a:rPr>
              <a:t>VERIFIED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63056" y="2816352"/>
            <a:ext cx="2194560" cy="448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2026-04-11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41080" y="2377440"/>
            <a:ext cx="26517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05672" y="2523744"/>
            <a:ext cx="23774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F766E"/>
                </a:solidFill>
                <a:latin typeface="Aptos"/>
              </a:rPr>
              <a:t>STEPS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05672" y="2816352"/>
            <a:ext cx="2377440" cy="448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0352" y="3611880"/>
            <a:ext cx="5669280" cy="21762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4944" y="3749040"/>
            <a:ext cx="534009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ptos"/>
              </a:rPr>
              <a:t>Workflow summary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" y="4023360"/>
            <a:ext cx="5340096" cy="167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Public users can select “Other” in the guided support assistant or widget when no FAQ resolves their issue.</a:t>
            </a:r>
          </a:p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Those submissions land in the PM dashboard for review before a ticket is created.</a:t>
            </a:r>
          </a:p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The PM can open the pre-filled raise-ticket screen, confirm routing, and create the formal ticket.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5080" y="3611880"/>
            <a:ext cx="4937760" cy="21762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19672" y="3749040"/>
            <a:ext cx="46085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D4ED8"/>
                </a:solidFill>
                <a:latin typeface="Aptos"/>
              </a:rPr>
              <a:t>Success criteria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19672" y="4023360"/>
            <a:ext cx="4608576" cy="167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The audience can explain how unresolved support issues move into PM review.</a:t>
            </a:r>
          </a:p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The PM can create a formal ticket without losing system, flow, or page context.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713232"/>
            <a:ext cx="19202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768096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Aptos"/>
              </a:rPr>
              <a:t>PROJECT MANAGER REVIEW OF “OTHER” SUPPORT SUBMISSIONS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70432"/>
            <a:ext cx="8138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ptos Display"/>
              </a:rPr>
              <a:t>Decision Guide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755648"/>
            <a:ext cx="79552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Use this slide to explain how the workflow branches from entry to completion.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46520"/>
            <a:ext cx="11155680" cy="5486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0" y="713232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ptos"/>
              </a:rPr>
              <a:t>Verified 2026-04-11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103120"/>
            <a:ext cx="301752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4400" y="2304288"/>
            <a:ext cx="1170432" cy="310896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2359152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START HERE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743200"/>
            <a:ext cx="2560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Aptos Display"/>
              </a:rPr>
              <a:t>Capture the unresolved issue in the assistant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3456432"/>
            <a:ext cx="2615184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This path preserves the context the PM needs to classify the problem accurately.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60520" y="2103120"/>
            <a:ext cx="301752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43400" y="2304288"/>
            <a:ext cx="1170432" cy="310896"/>
          </a:xfrm>
          <a:prstGeom prst="roundRect">
            <a:avLst/>
          </a:prstGeom>
          <a:solidFill>
            <a:srgbClr val="1D4ED8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53128" y="2359152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CONTINUE WHEN RESOLVED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61688" y="2743200"/>
            <a:ext cx="2560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Aptos Display"/>
              </a:rPr>
              <a:t>Confirm that the support request was logged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61688" y="3456432"/>
            <a:ext cx="2615184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The audience can explain how unresolved support issues move into PM review.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89520" y="2103120"/>
            <a:ext cx="301752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772400" y="2304288"/>
            <a:ext cx="1170432" cy="310896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82128" y="2359152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ESCALATE OR HAND OFF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90688" y="2743200"/>
            <a:ext cx="2560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Aptos Display"/>
              </a:rPr>
              <a:t>Verify the created ticket detail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90688" y="3456432"/>
            <a:ext cx="2615184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The PM can create a formal ticket without losing system, flow, or page context.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713232"/>
            <a:ext cx="19202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768096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Aptos"/>
              </a:rPr>
              <a:t>PROJECT MANAGER REVIEW OF “OTHER” SUPPORT SUBMISSIONS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70432"/>
            <a:ext cx="8138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ptos Display"/>
              </a:rPr>
              <a:t>Step 1. Capture the unresolved issue in the assistant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755648"/>
            <a:ext cx="79552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Assistant unresolved issue form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46520"/>
            <a:ext cx="11155680" cy="5486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0" y="713232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ptos"/>
              </a:rPr>
              <a:t>Verified 2026-04-11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2103120"/>
            <a:ext cx="47091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2240280"/>
            <a:ext cx="43799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ptos"/>
              </a:rPr>
              <a:t>What the user does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514600"/>
            <a:ext cx="43799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A support user drills down to the relevant system, flow, and screen, then chooses “Other” and describes the issue.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" y="3310128"/>
            <a:ext cx="47091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3447288"/>
            <a:ext cx="43799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D4ED8"/>
                </a:solidFill>
                <a:latin typeface="Aptos"/>
              </a:rPr>
              <a:t>What the user sees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3721608"/>
            <a:ext cx="43799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The assistant’s “Other issue” form with fields for name, phone number, email, description, and optional image upload.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" y="4517136"/>
            <a:ext cx="470916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" y="4654296"/>
            <a:ext cx="43799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Aptos"/>
              </a:rPr>
              <a:t>Why it matters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" y="4928616"/>
            <a:ext cx="4379976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This path preserves the context the PM needs to classify the problem accurately.</a:t>
            </a:r>
          </a:p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The unresolved issue is ready to be submitted for PM review.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68112" y="2103120"/>
            <a:ext cx="6199632" cy="3794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01-doctor-assistant-other-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0111" y="2103120"/>
            <a:ext cx="5795633" cy="379476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468112" y="6016752"/>
            <a:ext cx="6172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100" b="0">
                <a:solidFill>
                  <a:srgbClr val="475569"/>
                </a:solidFill>
                <a:latin typeface="Aptos"/>
              </a:rPr>
              <a:t>Trainer note: This is the core public-to-internal escalation handoff in the live product.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713232"/>
            <a:ext cx="19202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768096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Aptos"/>
              </a:rPr>
              <a:t>PROJECT MANAGER REVIEW OF “OTHER” SUPPORT SUBMISSIONS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70432"/>
            <a:ext cx="8138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ptos Display"/>
              </a:rPr>
              <a:t>Step 2. Confirm that the support request was logged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755648"/>
            <a:ext cx="79552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Support request logged confirmation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46520"/>
            <a:ext cx="11155680" cy="5486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0" y="713232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ptos"/>
              </a:rPr>
              <a:t>Verified 2026-04-11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2103120"/>
            <a:ext cx="47091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2240280"/>
            <a:ext cx="43799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ptos"/>
              </a:rPr>
              <a:t>What the user does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514600"/>
            <a:ext cx="43799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Submit the unresolved issue form from the assistant.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" y="3310128"/>
            <a:ext cx="47091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3447288"/>
            <a:ext cx="43799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D4ED8"/>
                </a:solidFill>
                <a:latin typeface="Aptos"/>
              </a:rPr>
              <a:t>What the user sees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3721608"/>
            <a:ext cx="43799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A success page confirming that the issue is recorded and available in the PM dashboard.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" y="4517136"/>
            <a:ext cx="470916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" y="4654296"/>
            <a:ext cx="43799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Aptos"/>
              </a:rPr>
              <a:t>Why it matters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" y="4928616"/>
            <a:ext cx="4379976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This reassures the external user and sets expectations that the issue has moved into PM review.</a:t>
            </a:r>
          </a:p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A `SupportRequest` exists in pending PM review status.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68112" y="2103120"/>
            <a:ext cx="6199632" cy="3794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02-doctor-request-succ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0111" y="2103120"/>
            <a:ext cx="5795633" cy="379476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468112" y="6016752"/>
            <a:ext cx="6172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100" b="0">
                <a:solidFill>
                  <a:srgbClr val="475569"/>
                </a:solidFill>
                <a:latin typeface="Aptos"/>
              </a:rPr>
              <a:t>Trainer note: Use the success message wording during training so users understand they are not yet looking at a final support resolution.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713232"/>
            <a:ext cx="19202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768096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Aptos"/>
              </a:rPr>
              <a:t>PROJECT MANAGER REVIEW OF “OTHER” SUPPORT SUBMISSIONS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70432"/>
            <a:ext cx="8138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ptos Display"/>
              </a:rPr>
              <a:t>Step 3. Review the pending issue on the PM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755648"/>
            <a:ext cx="79552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Pending unresolved issue in the PM queue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46520"/>
            <a:ext cx="11155680" cy="5486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0" y="713232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ptos"/>
              </a:rPr>
              <a:t>Verified 2026-04-11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2103120"/>
            <a:ext cx="47091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2240280"/>
            <a:ext cx="43799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ptos"/>
              </a:rPr>
              <a:t>What the user does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514600"/>
            <a:ext cx="43799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Open `/app/` and locate the pending “Other” submission in the PM review table.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" y="3310128"/>
            <a:ext cx="47091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3447288"/>
            <a:ext cx="43799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D4ED8"/>
                </a:solidFill>
                <a:latin typeface="Aptos"/>
              </a:rPr>
              <a:t>What the user sees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3721608"/>
            <a:ext cx="43799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The system, user type, flow, page, section, screen, issue description, and the `Raise Ticket` action.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" y="4517136"/>
            <a:ext cx="470916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" y="4654296"/>
            <a:ext cx="43799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Aptos"/>
              </a:rPr>
              <a:t>Why it matters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" y="4928616"/>
            <a:ext cx="4379976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This is where the PM decides whether the issue should become a ticket and where it should be routed.</a:t>
            </a:r>
          </a:p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The PM has enough context to continue into ticket creation without re-contacting the user.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68112" y="2103120"/>
            <a:ext cx="6199632" cy="3794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03-pm-pending-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0111" y="2103120"/>
            <a:ext cx="5795633" cy="379476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468112" y="6016752"/>
            <a:ext cx="6172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100" b="0">
                <a:solidFill>
                  <a:srgbClr val="475569"/>
                </a:solidFill>
                <a:latin typeface="Aptos"/>
              </a:rPr>
              <a:t>Trainer note: Use this step to show that the assistant preserves the screen-level context in the PM review queue.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713232"/>
            <a:ext cx="19202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768096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Aptos"/>
              </a:rPr>
              <a:t>PROJECT MANAGER REVIEW OF “OTHER” SUPPORT SUBMISSIONS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70432"/>
            <a:ext cx="8138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ptos Display"/>
              </a:rPr>
              <a:t>Step 4. Create the formal ticket from the pre-filled PM 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755648"/>
            <a:ext cx="79552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Raise ticket from support issue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46520"/>
            <a:ext cx="11155680" cy="5486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0" y="713232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ptos"/>
              </a:rPr>
              <a:t>Verified 2026-04-11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2103120"/>
            <a:ext cx="47091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2240280"/>
            <a:ext cx="43799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ptos"/>
              </a:rPr>
              <a:t>What the user does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514600"/>
            <a:ext cx="43799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Open the `Raise Ticket` screen, confirm the category and type, choose a department and campaign, and submit the form.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" y="3310128"/>
            <a:ext cx="47091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3447288"/>
            <a:ext cx="43799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D4ED8"/>
                </a:solidFill>
                <a:latin typeface="Aptos"/>
              </a:rPr>
              <a:t>What the user sees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3721608"/>
            <a:ext cx="43799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A ticket-creation page pre-filled with the support request description and routing context.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" y="4517136"/>
            <a:ext cx="470916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" y="4654296"/>
            <a:ext cx="43799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Aptos"/>
              </a:rPr>
              <a:t>Why it matters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" y="4928616"/>
            <a:ext cx="4379976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This minimizes re-entry and keeps the original support context attached to the ticket.</a:t>
            </a:r>
          </a:p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A new ticket is created and linked back to the originating support request.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68112" y="2103120"/>
            <a:ext cx="6199632" cy="3794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04-raise-ticket-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0111" y="2103120"/>
            <a:ext cx="5795633" cy="379476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468112" y="6016752"/>
            <a:ext cx="6172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100" b="0">
                <a:solidFill>
                  <a:srgbClr val="475569"/>
                </a:solidFill>
                <a:latin typeface="Aptos"/>
              </a:rPr>
              <a:t>Trainer note: The PM only needs to fill missing internal routing fields such as department and campaign.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713232"/>
            <a:ext cx="19202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768096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Aptos"/>
              </a:rPr>
              <a:t>PROJECT MANAGER REVIEW OF “OTHER” SUPPORT SUBMISSIONS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70432"/>
            <a:ext cx="8138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ptos Display"/>
              </a:rPr>
              <a:t>Step 5. Verify the created ticket detail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755648"/>
            <a:ext cx="79552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Ticket created from a support request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46520"/>
            <a:ext cx="11155680" cy="5486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0" y="713232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ptos"/>
              </a:rPr>
              <a:t>Verified 2026-04-11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2103120"/>
            <a:ext cx="47091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2240280"/>
            <a:ext cx="43799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ptos"/>
              </a:rPr>
              <a:t>What the user does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514600"/>
            <a:ext cx="43799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Open the resulting ticket detail page after the PM submits the synced ticket form.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" y="3310128"/>
            <a:ext cx="47091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3447288"/>
            <a:ext cx="43799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D4ED8"/>
                </a:solidFill>
                <a:latin typeface="Aptos"/>
              </a:rPr>
              <a:t>What the user sees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3721608"/>
            <a:ext cx="43799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The new ticket’s title, description, classification, assignment, and workflow controls.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" y="4517136"/>
            <a:ext cx="470916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" y="4654296"/>
            <a:ext cx="43799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Aptos"/>
              </a:rPr>
              <a:t>Why it matters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" y="4928616"/>
            <a:ext cx="4379976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This confirms the unresolved support issue is now in the internal execution workflow.</a:t>
            </a:r>
          </a:p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The PM can hand the work off to the correct department or begin managing it immediately.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68112" y="2103120"/>
            <a:ext cx="6199632" cy="3794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05-raised-ticket-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0111" y="2103120"/>
            <a:ext cx="5795633" cy="379476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468112" y="6016752"/>
            <a:ext cx="6172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100" b="0">
                <a:solidFill>
                  <a:srgbClr val="475569"/>
                </a:solidFill>
                <a:latin typeface="Aptos"/>
              </a:rPr>
              <a:t>Trainer note: If an image was uploaded, trainers should also point out where the resulting note attachment appears on the ticket detail page.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713232"/>
            <a:ext cx="19202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768096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Aptos"/>
              </a:rPr>
              <a:t>PROJECT MANAGER REVIEW OF “OTHER” SUPPORT SUBMISSIONS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70432"/>
            <a:ext cx="8138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ptos Display"/>
              </a:rPr>
              <a:t>Trainer Tips and Common Issues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755648"/>
            <a:ext cx="79552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Use this slide to coach facilitators on pacing, known caveats, and product reality.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46520"/>
            <a:ext cx="11155680" cy="5486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0" y="713232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ptos"/>
              </a:rPr>
              <a:t>Verified 2026-04-11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2103120"/>
            <a:ext cx="548640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2240280"/>
            <a:ext cx="515721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ptos"/>
              </a:rPr>
              <a:t>Trainer tips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514600"/>
            <a:ext cx="5157216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Show the assistant capture and PM review together so the handoff feels continuous rather than like two unrelated screens.</a:t>
            </a:r>
          </a:p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Emphasize that this workflow is for unresolved support gaps, not every FAQ interaction.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2103120"/>
            <a:ext cx="544068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64224" y="2240280"/>
            <a:ext cx="511149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D4ED8"/>
                </a:solidFill>
                <a:latin typeface="Aptos"/>
              </a:rPr>
              <a:t>Status and caveats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4224" y="2514600"/>
            <a:ext cx="5111496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Live-verified against the assistant, PM dashboard, and ticket-creation flow on 2026-04-11.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713232"/>
            <a:ext cx="19202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768096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Aptos"/>
              </a:rPr>
              <a:t>PROJECT MANAGER REVIEW OF “OTHER” SUPPORT SUBMISSIONS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70432"/>
            <a:ext cx="8138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ptos Display"/>
              </a:rPr>
              <a:t>Close-Out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755648"/>
            <a:ext cx="79552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End the walkthrough by confirming success and pointing learners to the next reference.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46520"/>
            <a:ext cx="11155680" cy="5486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0" y="713232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ptos"/>
              </a:rPr>
              <a:t>Verified 2026-04-11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2240280"/>
            <a:ext cx="5486400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2377440"/>
            <a:ext cx="515721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6A34A"/>
                </a:solidFill>
                <a:latin typeface="Aptos"/>
              </a:rPr>
              <a:t>Success criteria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651760"/>
            <a:ext cx="5157216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The audience can explain how unresolved support issues move into PM review.</a:t>
            </a:r>
          </a:p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The PM can create a formal ticket without losing system, flow, or page context.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2240280"/>
            <a:ext cx="5440680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64224" y="2377440"/>
            <a:ext cx="511149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D4ED8"/>
                </a:solidFill>
                <a:latin typeface="Aptos"/>
              </a:rPr>
              <a:t>Related documents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4224" y="2651760"/>
            <a:ext cx="5111496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README.md</a:t>
            </a:r>
          </a:p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docs/testing-guide.md</a:t>
            </a:r>
          </a:p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docs/support-widget-integration.md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5230368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Source of truth: live app, then code/templates, then project docs. Verified on 2026-04-11.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