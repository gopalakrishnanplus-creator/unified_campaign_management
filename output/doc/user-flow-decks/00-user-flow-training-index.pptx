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0-training-pack-template-reference.pptx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1-platform-overview-and-role-map.pptx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2-project-manager-dashboard-and-triage.pptx" TargetMode="External"/><Relationship Id="rId3" Type="http://schemas.openxmlformats.org/officeDocument/2006/relationships/hyperlink" Target="03-project-manager-review-other-submissions.pptx" TargetMode="External"/><Relationship Id="rId4" Type="http://schemas.openxmlformats.org/officeDocument/2006/relationships/hyperlink" Target="04-project-manager-manual-ticket-creation.pptx" TargetMode="External"/><Relationship Id="rId5" Type="http://schemas.openxmlformats.org/officeDocument/2006/relationships/hyperlink" Target="05-department-owner-ticket-execution.pptx" TargetMode="External"/><Relationship Id="rId6" Type="http://schemas.openxmlformats.org/officeDocument/2006/relationships/hyperlink" Target="06-project-manager-campaign-performance-and-reporting.pptx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07-doctor-self-service-support.pptx" TargetMode="External"/><Relationship Id="rId3" Type="http://schemas.openxmlformats.org/officeDocument/2006/relationships/hyperlink" Target="08-clinic-staff-self-service-support.pptx" TargetMode="External"/><Relationship Id="rId4" Type="http://schemas.openxmlformats.org/officeDocument/2006/relationships/hyperlink" Target="09-brand-manager-self-service-support.pptx" TargetMode="External"/><Relationship Id="rId5" Type="http://schemas.openxmlformats.org/officeDocument/2006/relationships/hyperlink" Target="10-field-rep-self-service-support.pptx" TargetMode="External"/><Relationship Id="rId6" Type="http://schemas.openxmlformats.org/officeDocument/2006/relationships/hyperlink" Target="11-patient-self-service-support.pptx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12-support-widget-integration.ppt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5486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User Flow Training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Open this deck first. Every card links to a sibling workflow deck in the same shared folder.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4709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Pack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43799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1 platform overview deck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5 PM and operations decks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5 self-service role decks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1 widget integration deck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1 reusable template reference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240280"/>
            <a:ext cx="5897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96712" y="2377440"/>
            <a:ext cx="55686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Verified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2651760"/>
            <a:ext cx="556869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2026-04-11 against the live local demo environment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Relative file hyperlinks target sibling `.pptx` files in this folder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QA PDFs are generated separately for visual review</a:t>
            </a:r>
          </a:p>
        </p:txBody>
      </p:sp>
      <p:sp>
        <p:nvSpPr>
          <p:cNvPr id="12" name="Rounded Rectangle 11">
            <a:hlinkClick r:id="rId2"/>
          </p:cNvPr>
          <p:cNvSpPr/>
          <p:nvPr/>
        </p:nvSpPr>
        <p:spPr>
          <a:xfrm>
            <a:off x="658368" y="4663440"/>
            <a:ext cx="3017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Template reference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4865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Open the reusable slide-style reference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Platform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Open any workflow card below to jump to the corresponding deck 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1 linked deck(s)</a:t>
            </a:r>
          </a:p>
        </p:txBody>
      </p:sp>
      <p:sp>
        <p:nvSpPr>
          <p:cNvPr id="11" name="Rounded Rectangle 10">
            <a:hlinkClick r:id="rId2"/>
          </p:cNvPr>
          <p:cNvSpPr/>
          <p:nvPr/>
        </p:nvSpPr>
        <p:spPr>
          <a:xfrm>
            <a:off x="640080" y="22402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2386584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32304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70632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Platform Overview and Role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2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Internal trainer, implementation lead, or any new team member onboarding to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66744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Explain the live product surface, the implemented user roles, and the handoff points between self-service support, project-management triage, and ticket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Project Management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Open any workflow card below to jump to the corresponding deck 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5 linked deck(s)</a:t>
            </a:r>
          </a:p>
        </p:txBody>
      </p:sp>
      <p:sp>
        <p:nvSpPr>
          <p:cNvPr id="11" name="Rounded Rectangle 10">
            <a:hlinkClick r:id="rId2"/>
          </p:cNvPr>
          <p:cNvSpPr/>
          <p:nvPr/>
        </p:nvSpPr>
        <p:spPr>
          <a:xfrm>
            <a:off x="640080" y="22402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2386584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32304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70632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Project Manager Dashboard and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2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Project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66744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a Project Manager uses the command-center dashboard to monitor workload, inspect pending items, and launch the next operational action.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6492240" y="22402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0256" y="2386584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432304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770632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Project Manager Review of “Other” Support 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319272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Project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666744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the end-to-end escalation path from an unresolved assistant/widget issue into a PM-reviewed ticket.</a:t>
            </a:r>
          </a:p>
        </p:txBody>
      </p:sp>
      <p:sp>
        <p:nvSpPr>
          <p:cNvPr id="23" name="Rounded Rectangle 22">
            <a:hlinkClick r:id="rId4"/>
          </p:cNvPr>
          <p:cNvSpPr/>
          <p:nvPr/>
        </p:nvSpPr>
        <p:spPr>
          <a:xfrm>
            <a:off x="640080" y="4005072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6" y="4151376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9709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535424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Project Manager Manual Ticket Creation and 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084064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Project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431536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a Project Manager creates a new ticket directly from the ticketing workspace when the issue did not originate in the support assistant or widget.</a:t>
            </a:r>
          </a:p>
        </p:txBody>
      </p:sp>
      <p:sp>
        <p:nvSpPr>
          <p:cNvPr id="29" name="Rounded Rectangle 28">
            <a:hlinkClick r:id="rId5"/>
          </p:cNvPr>
          <p:cNvSpPr/>
          <p:nvPr/>
        </p:nvSpPr>
        <p:spPr>
          <a:xfrm>
            <a:off x="6492240" y="4005072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20256" y="4151376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419709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4535424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Department Owner Ticket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084064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Department Owner / Support Lead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5431536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a departmental owner or support lead works their scoped queue, opens ticket detail, and updates the ticket lifecycle.</a:t>
            </a:r>
          </a:p>
        </p:txBody>
      </p:sp>
      <p:sp>
        <p:nvSpPr>
          <p:cNvPr id="35" name="Rounded Rectangle 34">
            <a:hlinkClick r:id="rId6"/>
          </p:cNvPr>
          <p:cNvSpPr/>
          <p:nvPr/>
        </p:nvSpPr>
        <p:spPr>
          <a:xfrm>
            <a:off x="640080" y="5769864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8096" y="5916168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961888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6300216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Project Manager Campaign Performance and 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6848856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Project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7196328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a Project Manager reviews campaign performance, subsystem metrics, and reporting contracts.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Open any workflow card below to jump to the corresponding deck 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5 linked deck(s)</a:t>
            </a:r>
          </a:p>
        </p:txBody>
      </p:sp>
      <p:sp>
        <p:nvSpPr>
          <p:cNvPr id="11" name="Rounded Rectangle 10">
            <a:hlinkClick r:id="rId2"/>
          </p:cNvPr>
          <p:cNvSpPr/>
          <p:nvPr/>
        </p:nvSpPr>
        <p:spPr>
          <a:xfrm>
            <a:off x="640080" y="22402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2386584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32304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70632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Doctor Self-Service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2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Doctor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66744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a doctor uses the support landing page, FAQ pages, widgets, and assistant to resolve issues or escalate them.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6492240" y="22402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0256" y="2386584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432304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770632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Clinic Staff Self-Service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3319272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Clinic Staff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666744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the clinic-staff self-service path for shared support topics and escalation into the internal queue.</a:t>
            </a:r>
          </a:p>
        </p:txBody>
      </p:sp>
      <p:sp>
        <p:nvSpPr>
          <p:cNvPr id="23" name="Rounded Rectangle 22">
            <a:hlinkClick r:id="rId4"/>
          </p:cNvPr>
          <p:cNvSpPr/>
          <p:nvPr/>
        </p:nvSpPr>
        <p:spPr>
          <a:xfrm>
            <a:off x="640080" y="4005072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6" y="4151376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9709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535424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Brand Manager Self-Service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084064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Brand 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431536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the implemented brand-manager support center and clarify how it differs from older portal-oriented notes.</a:t>
            </a:r>
          </a:p>
        </p:txBody>
      </p:sp>
      <p:sp>
        <p:nvSpPr>
          <p:cNvPr id="29" name="Rounded Rectangle 28">
            <a:hlinkClick r:id="rId5"/>
          </p:cNvPr>
          <p:cNvSpPr/>
          <p:nvPr/>
        </p:nvSpPr>
        <p:spPr>
          <a:xfrm>
            <a:off x="6492240" y="4005072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20256" y="4151376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419709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4535424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Field Rep Self-Service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084064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Field Rep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5431536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field reps use the role-specific support center for login, onboarding, sharing, and dashboard-menu issues.</a:t>
            </a:r>
          </a:p>
        </p:txBody>
      </p:sp>
      <p:sp>
        <p:nvSpPr>
          <p:cNvPr id="35" name="Rounded Rectangle 34">
            <a:hlinkClick r:id="rId6"/>
          </p:cNvPr>
          <p:cNvSpPr/>
          <p:nvPr/>
        </p:nvSpPr>
        <p:spPr>
          <a:xfrm>
            <a:off x="640080" y="5769864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8096" y="5916168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961888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6300216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Patient Self-Service Support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6848856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Patient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7196328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patients reach patient-facing support pages and widgets for Patient Education and Red Flag Alert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Technical Enablement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Open any workflow card below to jump to the corresponding deck 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1 linked deck(s)</a:t>
            </a:r>
          </a:p>
        </p:txBody>
      </p:sp>
      <p:sp>
        <p:nvSpPr>
          <p:cNvPr id="11" name="Rounded Rectangle 10">
            <a:hlinkClick r:id="rId2"/>
          </p:cNvPr>
          <p:cNvSpPr/>
          <p:nvPr/>
        </p:nvSpPr>
        <p:spPr>
          <a:xfrm>
            <a:off x="640080" y="2240280"/>
            <a:ext cx="5440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2386584"/>
            <a:ext cx="658368" cy="27432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32304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70632"/>
            <a:ext cx="5148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 Display"/>
              </a:rPr>
              <a:t>Support Widget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319272"/>
            <a:ext cx="51480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Aptos"/>
              </a:rPr>
              <a:t>Implementation partner, trainer, or technical owner embedding support content into another property.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666744"/>
            <a:ext cx="514807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Document how an implementation partner or trainer discovers the available support links and uses the embeddable widget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